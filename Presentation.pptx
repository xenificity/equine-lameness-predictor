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88"/>
    <p:restoredTop sz="94610"/>
  </p:normalViewPr>
  <p:slideViewPr>
    <p:cSldViewPr snapToGrid="0" snapToObjects="1">
      <p:cViewPr varScale="1">
        <p:scale>
          <a:sx n="182" d="100"/>
          <a:sy n="182" d="100"/>
        </p:scale>
        <p:origin x="192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51792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mizzou-lameness-predictor.streamlit.app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xenificity/equine-lameness-predictor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0"/>
            <a:ext cx="1584655" cy="68580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561320" y="0"/>
            <a:ext cx="45720" cy="68580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6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93497" y="121158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Equine Lameness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i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Two-Phase AI Pipeline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640080" y="35204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Socratic discharge-summary generation to multi-modal lameness-location prediction —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clinical workflow, one anonymized data spine, two complementary models.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57200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262626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4937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Discharge Summary AI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5349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interview · structured drafts · anonymized case archive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40680" y="4572000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262626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23560" y="4663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23560" y="49377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Lameness Location Prediction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623560" y="534924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LightGBM · 209 features · 92.6% test accuracy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Arwa Mashagbeh   ·   Phase 2 — Ajay Kumar   ·   University of Missouri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PROJECT, TWO PHASES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unified pipeline for equine lameness diagnosis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captures structured, anonymized clinical data through a Socratic AI interview. Phase 2 consumes that same anonymized record format — together with inertial sensor data — and predicts lameness location. The two phases share one data spine and one mission.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48640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73152" cy="41605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926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Discharge Summary AI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51206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interview </a:t>
            </a: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student through nine structured sections, pushing back on vague answers.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file upload </a:t>
            </a: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Lameness Locator PDFs, CSV, Excel — extracts metrics directly.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assessment </a:t>
            </a: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auto-grades each draft for completeness and surfaces clinical-reasoning shifts.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output </a:t>
            </a: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training data for Phase 2.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5852160"/>
            <a:ext cx="5120640" cy="0"/>
          </a:xfrm>
          <a:prstGeom prst="line">
            <a:avLst/>
          </a:prstGeom>
          <a:noFill/>
          <a:ln w="6350">
            <a:solidFill>
              <a:srgbClr val="D8D2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5989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 ·  Python 3.12  ·  Claude Sonnet 4.5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2240280"/>
            <a:ext cx="548640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63640" y="2240280"/>
            <a:ext cx="73152" cy="41605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46520" y="246888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24688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9244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29260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Lameness Location Prediction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46520" y="3474720"/>
            <a:ext cx="51206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 fusion </a:t>
            </a: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inertial sensor data, EHR text, anatomical flags, and clinical metadata.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classifier </a:t>
            </a: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non-limb cases (binary) before three-class limb localization.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HPO + stacking </a:t>
            </a: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LightGBM, XGBoost, and ExtraTrees lifts accuracy to 92.6%.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support </a:t>
            </a: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IMU upload — feeds back into the clinician review view.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46520" y="5852160"/>
            <a:ext cx="5120640" cy="0"/>
          </a:xfrm>
          <a:prstGeom prst="line">
            <a:avLst/>
          </a:prstGeom>
          <a:noFill/>
          <a:ln w="6350">
            <a:solidFill>
              <a:srgbClr val="D8D2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46520" y="59893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LightGBM + XGBoost + ExtraTrees  ·  Optuna  ·  Stacking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 rot="5400000">
            <a:off x="5852160" y="3977640"/>
            <a:ext cx="457200" cy="548640"/>
          </a:xfrm>
          <a:prstGeom prst="rtTriangl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Project Overview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MOTIVATION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automated lameness localization matters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737360"/>
            <a:ext cx="2697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73152" cy="219456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94360" y="3154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horses experience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lameness annually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19272" y="1737360"/>
            <a:ext cx="2697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19272" y="1737360"/>
            <a:ext cx="73152" cy="219456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56432" y="21488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$800M+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3456432" y="3154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US economic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per year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1737360"/>
            <a:ext cx="2697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81344" y="1737360"/>
            <a:ext cx="73152" cy="219456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18504" y="21488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6–12 hrs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318504" y="3154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workup time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lameness case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43416" y="1737360"/>
            <a:ext cx="269748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043416" y="1737360"/>
            <a:ext cx="73152" cy="219456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80576" y="21488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~30%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180576" y="315468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inter-observer disagreement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location diagnosis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11247120" cy="15544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137160" cy="15544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4348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7548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location classification from wearable IMU data + EHR records. Reduce diagnostic time, eliminate observer bias, and provide objective decision support at the point of care — fed by anonymized case data captured upstream by the discharge-summary AI.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informs Phase 2: anonymized cases captured during discharge become structured training rows for the predictive model.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Clinical Motivation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97280" y="2011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5603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Generator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097280" y="4023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Equine Discharge Summary AI Assistant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4937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Socratic AI agent that helps veterinary students generate polished discharge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drafts — and produces the anonymized case data Phase 2 trains on.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6126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02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Discharge summaries are broken — for both students and clinicians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73152" cy="21031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1920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Errors and gaps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17320" y="25146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Student-written drafts frequently contain errors, miss key clinical points, or include excessive history.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08192" y="1554480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08192" y="1554480"/>
            <a:ext cx="73152" cy="21031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428232" y="1920240"/>
            <a:ext cx="502920" cy="50292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2823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68312" y="19202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Clinician time sink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068312" y="251460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Clinicians spend more time editing student drafts than it would take to write the summary from scratch.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7200" y="3822192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3822192"/>
            <a:ext cx="73152" cy="21031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7240" y="4187952"/>
            <a:ext cx="502920" cy="50292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77240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41879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standard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17320" y="478231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don't know what a good discharge summary looks like, or which elements are clinically essential.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08192" y="3822192"/>
            <a:ext cx="548640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108192" y="3822192"/>
            <a:ext cx="73152" cy="21031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28232" y="4187952"/>
            <a:ext cx="502920" cy="50292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28232" y="4187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068312" y="418795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Busywork, not learning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068312" y="4782312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 becomes mechanical — no real teaching value remains for the student.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Phase 1 · The Problem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THE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Flip the model: AI interviews the student, then drafts the summary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asking the student to write (poorly), the AI asks Socratic questions to make them think — then generates a polished first draft for clinician review.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57400"/>
            <a:ext cx="22402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73152" cy="33832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88720" y="2423160"/>
            <a:ext cx="777240" cy="77724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94360" y="3383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Interview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0080" y="38862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walks the student through 9 sections, one at a time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52344" y="2057400"/>
            <a:ext cx="22402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52344" y="2057400"/>
            <a:ext cx="73152" cy="33832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483864" y="2423160"/>
            <a:ext cx="777240" cy="77724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83864" y="2423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889504" y="3383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Push back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935224" y="38862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follow-ups when answers are vague — like a teaching clinician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47488" y="2057400"/>
            <a:ext cx="22402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47488" y="2057400"/>
            <a:ext cx="73152" cy="33832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779008" y="2423160"/>
            <a:ext cx="777240" cy="77724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779008" y="2423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184648" y="3383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Synthesize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230368" y="38862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a structured summary using only what the student provided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42632" y="2057400"/>
            <a:ext cx="22402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42632" y="2057400"/>
            <a:ext cx="73152" cy="33832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074152" y="2423160"/>
            <a:ext cx="777240" cy="77724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074152" y="2423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479792" y="3383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check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525512" y="38862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Auto-graded for completeness; inconsistencies flagged for the clinician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9637776" y="2057400"/>
            <a:ext cx="224028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9637776" y="2057400"/>
            <a:ext cx="73152" cy="33832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0369296" y="2423160"/>
            <a:ext cx="777240" cy="77724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369296" y="2423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9774936" y="33832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Clinician review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9820656" y="3886200"/>
            <a:ext cx="1874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Attending edits and approves before anything reaches the owner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57200" y="5715000"/>
            <a:ext cx="11247120" cy="640080"/>
          </a:xfrm>
          <a:prstGeom prst="rect">
            <a:avLst/>
          </a:prstGeom>
          <a:solidFill>
            <a:srgbClr val="FFF8E1"/>
          </a:solidFill>
          <a:ln w="9525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57200" y="5715000"/>
            <a:ext cx="73152" cy="6400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0080" y="573328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guardrails: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identifying veterinary information is anonymized. The AI never invents clinical content.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Phase 1 · The Solution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HACKATHON DELIVERABLES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new features built on top of the MVP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146304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found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documented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29968" y="1417320"/>
            <a:ext cx="146304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29968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121408" y="1965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02736" y="1417320"/>
            <a:ext cx="146304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02736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694176" y="1965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references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75504" y="1417320"/>
            <a:ext cx="1463040" cy="10515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75504" y="1554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266944" y="19659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3703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73152" cy="18288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29260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Measurement file upload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347472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drop in Lameness Locator PDFs (or CSV/Excel/PDF). The AI reads the data and writes precise metrics into the summary.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79392" y="2743200"/>
            <a:ext cx="3703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79392" y="2743200"/>
            <a:ext cx="73152" cy="18288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07992" y="29260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Quality assessment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07992" y="347472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draft is auto-graded with a completeness % and an A–F quality grade — a learning signal for students, a triage tool for clinicians.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101584" y="2743200"/>
            <a:ext cx="3703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101584" y="2743200"/>
            <a:ext cx="73152" cy="18288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330184" y="29260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Lameness-aware questioning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330184" y="347472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lameness cases, the AI asks the right questions (Diff Max Head, Vector Sum, Q Score, impact vs. pushoff) using the clinic's vocabulary.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" y="4709160"/>
            <a:ext cx="56509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4709160"/>
            <a:ext cx="73152" cy="18288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5800" y="4892040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Items for Clinician Review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85800" y="5440680"/>
            <a:ext cx="5285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clinical-reasoning shifts (rDVM diagnosis vs. localization vs. imaging) so the attending doesn't miss them buried in prose.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27064" y="4709160"/>
            <a:ext cx="5650992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227064" y="4709160"/>
            <a:ext cx="73152" cy="18288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55664" y="4892040"/>
            <a:ext cx="5285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DOCX &amp; TXT export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6455664" y="5440680"/>
            <a:ext cx="5285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download formats available after the summary generates — Word for the medical record, plain text for VetView paste.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Phase 1 · Features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EVIDENCE OF IMPROVEMENT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 baseline vs. v3 with new prompts and features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5321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73152" cy="5029200"/>
          </a:xfrm>
          <a:prstGeom prst="rect">
            <a:avLst/>
          </a:prstGeom>
          <a:solidFill>
            <a:srgbClr val="9E1B32"/>
          </a:solidFill>
          <a:ln w="12700">
            <a:solidFill>
              <a:srgbClr val="9E1B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9E1B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 ·  v1 BASELINE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names leaked. Buried contradictions. Mechanical interview.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4688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referring vet name (Dr. Marcotte) leaked into case-summary narrative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dates leaked.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Clinical-reasoning contradictions buried inline, never surfaced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turns to advance one section (over-confirmation)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rejected out-of-section content as 'wrong section'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invited speculation when student said 'I don't know'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style didn't match real clinic discharge format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9632" y="1417320"/>
            <a:ext cx="55321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99632" y="1417320"/>
            <a:ext cx="73152" cy="5029200"/>
          </a:xfrm>
          <a:prstGeom prst="rect">
            <a:avLst/>
          </a:prstGeom>
          <a:solidFill>
            <a:srgbClr val="2C7A3D"/>
          </a:solidFill>
          <a:ln w="12700">
            <a:solidFill>
              <a:srgbClr val="2C7A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82512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2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 ·  v3 REWRITES + NEW FEATURES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382512" y="19202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Anonymized end-to-end. Reasoning shifts surfaced. Faster cadence.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19672" y="246888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veterinary names anonymized — including in narrative prose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Keegan-confirmed: horse names + dates retained per his policy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'Items for Clinician Review' section surfaces case contradictions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Single-turn advance — write recap, mark complete, move 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Out-of-section input acknowledged, captured, and continued cleanly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accepts 'I don't know' gracefully → marks for clinician completion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assessment block: completeness % + A–F grade with rationale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Phase 1 · Evidence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HOW IT WORKS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— simple by design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70332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73152" cy="43891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370332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73152" cy="5029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4630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148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31520" y="283464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chat interface. Sidebar progress tracker. File-upload widget for measurement data. Two-format download (TXT + DOCX).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166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 ·  Python 3.12  ·  Browser-based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279392" y="1463040"/>
            <a:ext cx="370332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279392" y="1463040"/>
            <a:ext cx="73152" cy="43891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279392" y="1463040"/>
            <a:ext cx="370332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79392" y="1463040"/>
            <a:ext cx="73152" cy="5029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53712" y="14630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53712" y="2148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application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53712" y="283464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conversation flow, section tracking, file extraction (pypdf, pandas), prompt assembly, and DOCX rendering (python-docx).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53712" y="5166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orchestration  ·  Prompt assembly  ·  File parsing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01584" y="1463040"/>
            <a:ext cx="3703320" cy="438912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101584" y="1463040"/>
            <a:ext cx="73152" cy="43891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101584" y="1463040"/>
            <a:ext cx="370332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101584" y="1463040"/>
            <a:ext cx="73152" cy="5029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75904" y="14630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75904" y="21488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Anthropic Claude API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375904" y="283464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powers the Socratic interview, clinical-reasoning consistency checks, quality grading, and the final draft generation.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75904" y="5166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6A0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Sonnet 4.5  ·  Two-prompt design  ·  Few-shot grounding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top of the existing MVP shared by Dr. Keegan. Same Streamlit + Claude foundation, with rewritten prompts, new modules (file_processor, docx_export), and a polished UI.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Phase 1 · Architecture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43055" y="0"/>
            <a:ext cx="548640" cy="68580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097280" y="2011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25603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Predictor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097280" y="402336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Equine Lameness Location Prediction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97280" y="49377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multi-modal machine-learning approach that fuses inertial sensor data with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health records to predict where the lameness is — automatically.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0" y="6126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02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DATASET OVERVIEW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514 horses, 10,568 strides, 557 cases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69748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73152" cy="9144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40080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19272" y="1417320"/>
            <a:ext cx="269748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19272" y="1417320"/>
            <a:ext cx="73152" cy="9144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02152" y="1508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10,568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502152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records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81344" y="1417320"/>
            <a:ext cx="269748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81344" y="1417320"/>
            <a:ext cx="73152" cy="9144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64224" y="1508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557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64224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43416" y="1417320"/>
            <a:ext cx="2697480" cy="9144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043416" y="1417320"/>
            <a:ext cx="73152" cy="9144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226296" y="15087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9226296" y="19659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classes</a:t>
            </a:r>
            <a:endParaRPr lang="en-US" sz="1200" dirty="0"/>
          </a:p>
        </p:txBody>
      </p:sp>
      <p:pic>
        <p:nvPicPr>
          <p:cNvPr id="24" name="Image 0" descr="/sessions/keen-dreamy-knuth/mnt/outputs/work/p2_images/dataset_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2606040"/>
            <a:ext cx="11247120" cy="393192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Phase 2 · Dataset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LAMENESS LOCATION ZONES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anatomical prediction targets — each with distinct sensor &amp; clinical signatures</a:t>
            </a:r>
            <a:endParaRPr lang="en-US" sz="2600" dirty="0"/>
          </a:p>
        </p:txBody>
      </p:sp>
      <p:pic>
        <p:nvPicPr>
          <p:cNvPr id="8" name="Image 0" descr="/sessions/keen-dreamy-knuth/mnt/outputs/work/p2_images/horse_anatom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63040"/>
            <a:ext cx="3108960" cy="4937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794760" y="1463040"/>
            <a:ext cx="40690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794760" y="1463040"/>
            <a:ext cx="73152" cy="237744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023360" y="16642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4023360" y="20299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42.9% of cases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023360" y="242316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fetlock: pastern, coffin joint, navicular bone, hoof, sole &amp; heel. Most common site. Clear sensor signature: high forelimb asymmetry on hard surfaces.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973568" y="1463040"/>
            <a:ext cx="40690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973568" y="1463040"/>
            <a:ext cx="73152" cy="237744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202168" y="166420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02168" y="202996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41.5% of cases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202168" y="242316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Cannon-bone region through knee/hock: suspensory ligament, check ligaments, digital flexor tendons, carpus. Second most common; often bilateral.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794760" y="3950208"/>
            <a:ext cx="40690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794760" y="3950208"/>
            <a:ext cx="73152" cy="237744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023360" y="415137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4023360" y="451713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12.4% of cases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023360" y="4910328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knee/hock: stifle, hip, shoulder, sacroiliac joint, upper limb muscles. Highest diagnostic complexity — improved by two-stage architecture.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973568" y="3950208"/>
            <a:ext cx="4069080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7973568" y="3950208"/>
            <a:ext cx="73152" cy="237744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202168" y="415137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NON-LIMB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202168" y="4517136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3.2% of cases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02168" y="4910328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skeleton: back, neck, cervical, thoracic &amp; lumbar spine, sacrum. Rarest class. Misclassified as proximal without dedicated Stage 1 filter.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Phase 2 · Location Zones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FEATURE ENGINEERING 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feature groups → 209 total features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27432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73152" cy="22402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600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INERTIAL SENSOR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788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Forelimb &amp; hindlimb diff max/min means &amp; SDs · Vector sums, ratio means, stride rates · Fore &amp; hind trot stride counts · Captured at 100 Hz, single-stride resolution.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64992" y="1417320"/>
            <a:ext cx="27432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64992" y="1417320"/>
            <a:ext cx="73152" cy="22402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93592" y="1600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593592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93592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RECORDS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93592" y="2788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horse (sport / pleasure / racing) · Prior surgeries, shoeing status · Physical exam: nervous, imaging, integumentary · Last hoof care &amp; dental care (days elapsed).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72784" y="1417320"/>
            <a:ext cx="27432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72784" y="1417320"/>
            <a:ext cx="73152" cy="22402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01384" y="1600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501384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01384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ANATOMICAL FLAGS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01384" y="2788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flags regex-matched from History + Reason text · Fetlock, pastern, stifle, hock, back/spine · Fires if term present in either text field · Clinical vocab → location zones.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80576" y="1417320"/>
            <a:ext cx="274320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180576" y="1417320"/>
            <a:ext cx="73152" cy="22402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409176" y="16002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9409176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409176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TEXT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409176" y="27889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Current Problem + Reason combined · Domain stop-words removed (horse names, dates) · Unigrams &amp; bigrams · Sublinear TF scaling · 'lameness' = #4 most important feature.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886200"/>
            <a:ext cx="11247120" cy="2468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" y="3886200"/>
            <a:ext cx="137160" cy="24688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77240" y="4114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96</a:t>
            </a:r>
            <a:endParaRPr lang="en-US" sz="5600" dirty="0"/>
          </a:p>
        </p:txBody>
      </p:sp>
      <p:sp>
        <p:nvSpPr>
          <p:cNvPr id="35" name="Text 33"/>
          <p:cNvSpPr/>
          <p:nvPr/>
        </p:nvSpPr>
        <p:spPr>
          <a:xfrm>
            <a:off x="777240" y="49834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468880" y="41605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6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CASE-LEVEL GAIT STATS  ·  NEW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468880" y="45720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μ, σ, skew, IQR, min, max per sensor feature — summarises all strides per horse into a distribution.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468880" y="516636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sensor features × 6 statistics = 96 new features.  </a:t>
            </a:r>
            <a:r>
              <a:rPr lang="en-US" sz="1200" b="1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Within-case CV = 1.7  </a:t>
            </a: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rich distributional signal; biggest single accuracy gain in the entire pipeline:  </a:t>
            </a:r>
            <a:r>
              <a:rPr lang="en-US" sz="1200" b="1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+6.9 percentage points.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Phase 2 · Features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CASE-LEVEL GAIT AGGREGATIONS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stride-level features alone are insufficient</a:t>
            </a:r>
            <a:endParaRPr lang="en-US" sz="2600" dirty="0"/>
          </a:p>
        </p:txBody>
      </p:sp>
      <p:pic>
        <p:nvPicPr>
          <p:cNvPr id="8" name="Image 0" descr="/sessions/keen-dreamy-knuth/mnt/outputs/work/p2_images/aggregatio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63040"/>
            <a:ext cx="5943600" cy="20116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0" y="1463040"/>
            <a:ext cx="5120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583680" y="1463040"/>
            <a:ext cx="73152" cy="15544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812280" y="16276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812280" y="196596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horse has up to 228 strides — all tagged with the same label. A single stride is noisy. The model needs distributional context.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583680" y="3108960"/>
            <a:ext cx="5120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583680" y="3108960"/>
            <a:ext cx="73152" cy="15544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12280" y="32735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812280" y="36118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Per-horse statistics across all strides: mean, SD (central tendency &amp; spread), skew (distribution asymmetry), IQR (robust spread), min, max (extremes).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583680" y="4754880"/>
            <a:ext cx="512064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583680" y="4754880"/>
            <a:ext cx="73152" cy="15544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812280" y="49194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812280" y="52578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sensor features × 6 statistics = 96 new features. Single biggest accuracy gain in the pipeline: +6.9 pp.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3611880"/>
            <a:ext cx="5943600" cy="2834640"/>
          </a:xfrm>
          <a:prstGeom prst="rect">
            <a:avLst/>
          </a:prstGeom>
          <a:solidFill>
            <a:srgbClr val="FFF8E1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457200" y="3611880"/>
            <a:ext cx="109728" cy="283464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13232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8B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13232" y="406908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within-case coefficient of variation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(CV = 1.7) 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stride distributions </a:t>
            </a:r>
            <a:r>
              <a:rPr lang="en-US" sz="1400" b="1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 meaningfully 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location classes. Aggregation captures what single strides cannot.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13232" y="54406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+6.9 pp</a:t>
            </a:r>
            <a:endParaRPr lang="en-US" sz="5600" dirty="0"/>
          </a:p>
        </p:txBody>
      </p:sp>
      <p:sp>
        <p:nvSpPr>
          <p:cNvPr id="26" name="Shape 23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Phase 2 · Aggregations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TWO-STAGE MODEL 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Structurally solving the non-limb minority class problem</a:t>
            </a:r>
            <a:endParaRPr lang="en-US" sz="2600" dirty="0"/>
          </a:p>
        </p:txBody>
      </p:sp>
      <p:pic>
        <p:nvPicPr>
          <p:cNvPr id="8" name="Image 0" descr="/sessions/keen-dreamy-knuth/mnt/outputs/work/p2_images/architect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463040"/>
            <a:ext cx="6400800" cy="40233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040880" y="1463040"/>
            <a:ext cx="469087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040880" y="1463040"/>
            <a:ext cx="73152" cy="128016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223760" y="160020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SEPARATE?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223760" y="1920240"/>
            <a:ext cx="4416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Non-limb cases (3.2%) have different feature signatures — back/spine flags, low sensor asymmetry. A single model creates conflicting gradient signals.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040880" y="2880360"/>
            <a:ext cx="4690872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7040880" y="2880360"/>
            <a:ext cx="73152" cy="150876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223760" y="301752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BINARY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223760" y="329184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Non-limb vs Limb  |  LightGBM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223760" y="3611880"/>
            <a:ext cx="4416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Optuna-tuned: lr=0.0163, n=300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accuracy: </a:t>
            </a: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Non-limb recall: </a:t>
            </a:r>
            <a:r>
              <a:rPr lang="en-US" sz="1100" b="1" dirty="0">
                <a:solidFill>
                  <a:srgbClr val="2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040880" y="4526280"/>
            <a:ext cx="4690872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040880" y="4526280"/>
            <a:ext cx="73152" cy="150876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7223760" y="466344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3-CLASS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223760" y="4937760"/>
            <a:ext cx="4416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Distal / Middle / Proximal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223760" y="5257800"/>
            <a:ext cx="4416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limb-only rows; lr=0.0111, n=300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recall: </a:t>
            </a:r>
            <a:r>
              <a:rPr lang="en-US" sz="1100" b="1" dirty="0">
                <a:solidFill>
                  <a:srgbClr val="2C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</a:t>
            </a: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84%)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Phase 2 · Architecture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OPTIMISATION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Optuna Bayesian search + stacking ensemble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55321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73152" cy="50292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HYPERPARAMETER SEARCH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8745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trials per stage  ·  9 parameters  ·  5-fold CV objective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377440"/>
          <a:ext cx="5166360" cy="222199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n_estimators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300 – 1,200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learning_rate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0.01 – 0.10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max_depth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– 12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num_leaves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31 – 127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min_child_samples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 – 30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subsample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 – 1.0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colsample_bytree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0.7 – 1.0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reg_alpha / reg_lambda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1e-4 – 10.0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40080" y="4983480"/>
            <a:ext cx="5166360" cy="1417320"/>
          </a:xfrm>
          <a:prstGeom prst="rect">
            <a:avLst/>
          </a:prstGeom>
          <a:solidFill>
            <a:srgbClr val="FFF8E1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77240" y="5074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8B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PARAMS FOUND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" y="539496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</a:t>
            </a: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 = 0.0163  ·  n = 300  ·  leaves = 33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</a:t>
            </a: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 = 0.0111  ·  n = 300  ·  leaves = 31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100" dirty="0"/>
          </a:p>
          <a:p>
            <a:pPr marL="0" indent="0">
              <a:buNone/>
            </a:pPr>
            <a:r>
              <a:rPr lang="en-US" sz="1100" b="1" i="1" dirty="0">
                <a:solidFill>
                  <a:srgbClr val="8B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r>
              <a:rPr lang="en-US" sz="11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low LR + shallow trees → reduces overfitting on small N.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199632" y="1463040"/>
            <a:ext cx="55321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4"/>
          <p:cNvSpPr/>
          <p:nvPr/>
        </p:nvSpPr>
        <p:spPr>
          <a:xfrm>
            <a:off x="6199632" y="1463040"/>
            <a:ext cx="73152" cy="50292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382512" y="1600200"/>
            <a:ext cx="5166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ENSEMBLE  —  STAGE 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82512" y="187452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diverse base learners → logistic-regression meta-model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382512" y="2423160"/>
            <a:ext cx="365760" cy="36576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382512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58000" y="237744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LightGBM (Optuna-tuned)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58000" y="2697480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with optimised hyperparameters. Best single-model accuracy.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382512" y="3337560"/>
            <a:ext cx="365760" cy="36576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382512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858000" y="329184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 (lr=0.03, n=600)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858000" y="3611880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regularisation paradigm; complementary signal to LightGBM.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382512" y="4251960"/>
            <a:ext cx="365760" cy="36576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382512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858000" y="4206240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ExtraTrees  (n=600)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6858000" y="4526280"/>
            <a:ext cx="4690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Random-split trees, high variance, low correlation with boosting models.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382512" y="5074920"/>
            <a:ext cx="516636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382512" y="5074920"/>
            <a:ext cx="91440" cy="13258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565392" y="5166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META-LEARNER  ·  LOGISTIC REGRESSION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565392" y="5440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 out-of-fold (5-fold) probabilities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565392" y="576072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accuracy: </a:t>
            </a:r>
            <a:r>
              <a:rPr lang="en-US" sz="1100" b="1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92.6%  </a:t>
            </a: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Proximal recall: </a:t>
            </a:r>
            <a:r>
              <a:rPr lang="en-US" sz="1100" b="1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 </a:t>
            </a: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+7.4 pp from stacking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Phase 2 · Optimisation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CONFUSION MATRIX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92.6% accuracy · 100% non-limb recall · n=2,114 strides</a:t>
            </a:r>
            <a:endParaRPr lang="en-US" sz="2600" dirty="0"/>
          </a:p>
        </p:txBody>
      </p:sp>
      <p:pic>
        <p:nvPicPr>
          <p:cNvPr id="8" name="Image 0" descr="/sessions/keen-dreamy-knuth/mnt/outputs/work/p2_images/confusion_matrix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57200" y="1554480"/>
            <a:ext cx="5852160" cy="3657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0" y="1508760"/>
            <a:ext cx="5330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recall progression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178308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sensor-only baseline (49.3%) to final model (92.6%)</a:t>
            </a:r>
            <a:endParaRPr lang="en-US" sz="1400" dirty="0"/>
          </a:p>
        </p:txBody>
      </p:sp>
      <p:pic>
        <p:nvPicPr>
          <p:cNvPr id="11" name="Image 1" descr="/sessions/keen-dreamy-knuth/mnt/outputs/work/p2_images/recall_comparis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2240280"/>
            <a:ext cx="5330952" cy="3017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57200" y="5486400"/>
            <a:ext cx="11247120" cy="9601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57200" y="5486400"/>
            <a:ext cx="109728" cy="9601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777240" y="55778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PROXIMAL RECALL JOURNEY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7724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</a:t>
            </a:r>
            <a:r>
              <a:rPr lang="en-US" sz="14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(sensor only)   → 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 </a:t>
            </a:r>
            <a:r>
              <a:rPr lang="en-US" sz="14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(two-stage)   →   </a:t>
            </a:r>
            <a:r>
              <a:rPr lang="en-US" sz="1800" b="1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</a:t>
            </a:r>
            <a:r>
              <a:rPr lang="en-US" sz="14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(final stacked model)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Phase 2 · Results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FINAL CLASSIFICATION REPORT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Two-Stage + Gait Agg + Optuna + Stacking  ·  n=2,114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47120" cy="2514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observation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precision. Clear sensor signal. Slight confusion with Middle.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most from stacking ensemble (+15% vs baseline).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recall via dedicated Stage 1 binary classifier — clinically safer to over-detect.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C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16% (sensor only) → 84% (two-stage) → 99% (final).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4663440"/>
            <a:ext cx="11247120" cy="1828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4663440"/>
            <a:ext cx="137160" cy="18288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77240" y="482803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77240" y="5166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92.6%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7724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474720" y="5166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77.8% ± 0.9%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347472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CV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172200" y="5166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95.4%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617220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Recall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869680" y="516636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2400" dirty="0"/>
          </a:p>
        </p:txBody>
      </p:sp>
      <p:sp>
        <p:nvSpPr>
          <p:cNvPr id="8" name="Text 16"/>
          <p:cNvSpPr/>
          <p:nvPr/>
        </p:nvSpPr>
        <p:spPr>
          <a:xfrm>
            <a:off x="8869680" y="566928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240" y="6080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set: 209  (Sensor 16 + Medical 17 + Flags 20 + TF-IDF 60 + Case Agg 96)  ·  Model: Two-Stage + Optuna + Stacking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Phase 2 · Classification Report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COMPLETE EXPERIMENT SUMMARY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experiments — systematic ablation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1247120" cy="3538728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/ Experiment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observation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Sensor-only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class balancing. Establishes lower bound.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class_weight=balanced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Balancing alone insufficient for sensor features.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Medical 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B6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single gain: +26.1 pp. USE_OF_HORSE most important.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TF-IDF text (n=200)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+ Reason text. tfidf_lameness = top-4 feature.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Anatomical flags, LR=0.03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 flags + cleaned stop-words + lower LR.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 architecture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 binary + Stage 2 limb-only. +14 pp proximal recall.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Case-level gait agg + Optuna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B6A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A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 new features + Bayesian HPO. Stage 1 = 100% non-limb recall.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1B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B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Stacking ensemble  (FINAL)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1B8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DD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LGBM + XGB + ET → LR meta. All classes &gt;90% recall.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2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806440"/>
            <a:ext cx="1124712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7200" y="5806440"/>
            <a:ext cx="109728" cy="59436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713232" y="58064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(Exp 8): 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92.6% accuracy  ·  100% non-limb recall  ·  99% proximal recall  ·  </a:t>
            </a: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+43.3 pp gain from baseline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Phase 2 · Experiments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DELIVERABLES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can use today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7033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73152" cy="420624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1554480"/>
            <a:ext cx="73152" cy="54864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15544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 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331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Mizzou Prediction Tool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2834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APP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15468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Streamlit-deployed inference UI that runs the full two-stage pipeline on uploaded inertial-sensor + clinical data and returns a predicted lameness location with class probabilities.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4892040"/>
            <a:ext cx="3429000" cy="6400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hlinkClick r:id="rId3" tooltip="Open the Mizzou Prediction Tool"/>
          </p:cNvPr>
          <p:cNvSpPr/>
          <p:nvPr/>
        </p:nvSpPr>
        <p:spPr>
          <a:xfrm>
            <a:off x="594360" y="48920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u="sng" kern="0" spc="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tooltip="Open the Mizzou Prediction Too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THE LIVE APP  ↗</a:t>
            </a:r>
            <a:endParaRPr lang="en-US" sz="950" dirty="0"/>
          </a:p>
        </p:txBody>
      </p:sp>
      <p:sp>
        <p:nvSpPr>
          <p:cNvPr id="18" name="Text 16">
            <a:hlinkClick r:id="rId3"/>
          </p:cNvPr>
          <p:cNvSpPr/>
          <p:nvPr/>
        </p:nvSpPr>
        <p:spPr>
          <a:xfrm>
            <a:off x="594360" y="51846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u="sng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mizzou-lameness-predictor.streamlit.app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79392" y="1554480"/>
            <a:ext cx="37033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279392" y="1554480"/>
            <a:ext cx="73152" cy="420624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279392" y="1554480"/>
            <a:ext cx="73152" cy="54864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53712" y="15544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 02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53712" y="233172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Two-Stage Multi-Modal Architecture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53712" y="31089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PIPELINE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53712" y="3429000"/>
            <a:ext cx="31546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binary (non-limb vs. limb) feeds Stage 2 three-class limb localization. Trained on multi-modality features: inertial sensor signals, EHR text, anatomical flags, TF-IDF, and case-level gait aggregations.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53712" y="4892040"/>
            <a:ext cx="3154680" cy="658368"/>
          </a:xfrm>
          <a:prstGeom prst="rect">
            <a:avLst/>
          </a:prstGeom>
          <a:solidFill>
            <a:srgbClr val="FFF8E1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53712" y="489204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92.6% </a:t>
            </a: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 · 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</a:t>
            </a: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non-limb recall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1584" y="1554480"/>
            <a:ext cx="370332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101584" y="1554480"/>
            <a:ext cx="73152" cy="420624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101584" y="1554480"/>
            <a:ext cx="73152" cy="54864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75904" y="155448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 03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75904" y="23317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Open-Source Repository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8375904" y="283464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MIT-LICENSED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75904" y="3154680"/>
            <a:ext cx="31546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code, training pipeline, feature-engineering scripts, hyperparameter-search configs, and inference notebooks. Reproduce the 92.6% result end-to-end.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38744" y="4892040"/>
            <a:ext cx="3429000" cy="6400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hlinkClick r:id="rId4" tooltip="Open GitHub repository"/>
          </p:cNvPr>
          <p:cNvSpPr/>
          <p:nvPr/>
        </p:nvSpPr>
        <p:spPr>
          <a:xfrm>
            <a:off x="8238744" y="48920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u="sng" kern="0" spc="5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tooltip="Open GitHub repository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CLONE THE REPO  ↗</a:t>
            </a:r>
            <a:endParaRPr lang="en-US" sz="950" dirty="0"/>
          </a:p>
        </p:txBody>
      </p:sp>
      <p:sp>
        <p:nvSpPr>
          <p:cNvPr id="39" name="Text 37">
            <a:hlinkClick r:id="rId4"/>
          </p:cNvPr>
          <p:cNvSpPr/>
          <p:nvPr/>
        </p:nvSpPr>
        <p:spPr>
          <a:xfrm>
            <a:off x="8238744" y="51846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github.com/xenificity/equine-lameness-predictor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live tool, inspect the architecture, fork the code — all three deliverables are public and accessible right now.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Phase 2 · Deliverables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Phase 1 and Phase 2 close the loop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complementary work streams. Same project. Convergence after the hackathon.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338328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109728" cy="329184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Discharge Summary AI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structured case data through Socratic interview. Extracts measurement files (Lameness Locator metrics). Outputs anonymized summaries the predictive model can train on. Surfaces clinical-reasoning contradictions.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5400000">
            <a:off x="3886200" y="3474720"/>
            <a:ext cx="365760" cy="365760"/>
          </a:xfrm>
          <a:prstGeom prst="rtTriangl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97680" y="2011680"/>
            <a:ext cx="3383280" cy="3291840"/>
          </a:xfrm>
          <a:prstGeom prst="rect">
            <a:avLst/>
          </a:prstGeom>
          <a:solidFill>
            <a:srgbClr val="FFF8E1"/>
          </a:solidFill>
          <a:ln w="12700">
            <a:solidFill>
              <a:srgbClr val="FFF8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297680" y="2011680"/>
            <a:ext cx="109728" cy="329184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Anonymized Case Data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572000" y="34290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discharge records with location-relevant metrics, anatomical flags, and clinical narrative — all de-identified and conformed to a single schema. The data spine.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726680" y="3474720"/>
            <a:ext cx="365760" cy="365760"/>
          </a:xfrm>
          <a:prstGeom prst="rtTriangl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138160" y="2011680"/>
            <a:ext cx="3383280" cy="32918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38160" y="2011680"/>
            <a:ext cx="109728" cy="329184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412480" y="2240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412480" y="25603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Lameness Prediction Model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412480" y="34290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structured lameness data (sensor metrics + EHR taxonomy). Predicts location, anatomy, type, primary vs. compensatory. Trained on the anonymized case archive built upstream.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5577840"/>
            <a:ext cx="11247120" cy="86868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77240" y="55778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the loop:  data collection  →  prediction  →  clinical decision support  →  better data collection.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Convergence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20040"/>
            <a:ext cx="12191695" cy="4572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0" y="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EQUINE LAMENESS · TWO-PHASE AI PIPELINE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GO FROM HERE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 — beyond the hackathon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55321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73152" cy="50292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0080" y="16459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1645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1664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FOR THE GENERATOR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240280"/>
            <a:ext cx="365760" cy="36576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1945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Native VetView integration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43000" y="2560320"/>
            <a:ext cx="425196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the Socratic interview directly inside MU's VetView clinical system. Students complete the form in the same EHR where the case lives — the generator runs natively, no context-switch, no copy-paste, drafts land straight into the medical record.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627120"/>
            <a:ext cx="365760" cy="36576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627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5814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Clinician review dashboard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43000" y="3947160"/>
            <a:ext cx="425196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login-protected page where attendings see all pending student drafts, edit inline, and approve in one click.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013960"/>
            <a:ext cx="365760" cy="36576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5013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9682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Show-Me AI / Azure migration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43000" y="5334000"/>
            <a:ext cx="425196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Dr. Keegan's IT Compliance request — move the LLM backend into MU's walled-garden infrastructure.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99632" y="1417320"/>
            <a:ext cx="5532120" cy="502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99632" y="1417320"/>
            <a:ext cx="73152" cy="50292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382512" y="16459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82512" y="16459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92440" y="1664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B890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FOR THE PREDICTOR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82512" y="2240280"/>
            <a:ext cx="365760" cy="36576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82512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85432" y="219456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 type &amp; anatomy prediction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6885432" y="2560320"/>
            <a:ext cx="425196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location to predict lameness type (impact vs. pushoff, primary vs. compensatory) and exact anatomical structure — turning a 4-class location model into a richer multi-label diagnostic system.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82512" y="3627120"/>
            <a:ext cx="365760" cy="36576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82512" y="3627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85432" y="358140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on Mizzou Vet servers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885432" y="3947160"/>
            <a:ext cx="425196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inference stack out of Streamlit Cloud and into MU's veterinary infrastructure so clinicians and students can rely on it as a sanctioned point-of-care tool.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82512" y="5013960"/>
            <a:ext cx="365760" cy="365760"/>
          </a:xfrm>
          <a:prstGeom prst="ellipse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82512" y="5013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885432" y="496824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Submit for publication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6885432" y="5334000"/>
            <a:ext cx="4251960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the methodology, ablation study, and results into a peer-reviewed manuscript for a relevant veterinary-informatics or applied-ML venue.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5720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MIZZOU  ·  Future Work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1B82D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MISSOURI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F1B8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and feedback welcome.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371600" y="4297680"/>
            <a:ext cx="4572000" cy="1371600"/>
          </a:xfrm>
          <a:prstGeom prst="roundRect">
            <a:avLst>
              <a:gd name="adj" fmla="val 5333"/>
            </a:avLst>
          </a:prstGeom>
          <a:solidFill>
            <a:srgbClr val="262626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54480" y="4434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4754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Arwa Mashagbeh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5212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Discharge Summary AI Assistant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4297680"/>
            <a:ext cx="4572000" cy="1371600"/>
          </a:xfrm>
          <a:prstGeom prst="roundRect">
            <a:avLst>
              <a:gd name="adj" fmla="val 5333"/>
            </a:avLst>
          </a:prstGeom>
          <a:solidFill>
            <a:srgbClr val="262626"/>
          </a:solidFill>
          <a:ln w="12700">
            <a:solidFill>
              <a:srgbClr val="F1B8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46520" y="4434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F1B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4754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Ajay Kumar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5212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ajay.kumar@missouri.edu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 — ZOU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3408</Words>
  <Application>Microsoft Macintosh PowerPoint</Application>
  <PresentationFormat>Widescreen</PresentationFormat>
  <Paragraphs>533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Equine Lameness — Two-Phase AI Pipeline</dc:title>
  <dc:subject>PptxGenJS Presentation</dc:subject>
  <dc:creator>Mizzou Veterinary Health Center</dc:creator>
  <cp:lastModifiedBy>Kumar, Ajay (MU-Student)</cp:lastModifiedBy>
  <cp:revision>2</cp:revision>
  <dcterms:created xsi:type="dcterms:W3CDTF">2026-05-03T14:21:29Z</dcterms:created>
  <dcterms:modified xsi:type="dcterms:W3CDTF">2026-05-03T14:59:05Z</dcterms:modified>
</cp:coreProperties>
</file>